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4"/>
  </p:notesMasterIdLst>
  <p:sldIdLst>
    <p:sldId id="258" r:id="rId2"/>
    <p:sldId id="296" r:id="rId3"/>
    <p:sldId id="298" r:id="rId4"/>
    <p:sldId id="281" r:id="rId5"/>
    <p:sldId id="283" r:id="rId6"/>
    <p:sldId id="274" r:id="rId7"/>
    <p:sldId id="282" r:id="rId8"/>
    <p:sldId id="284" r:id="rId9"/>
    <p:sldId id="285" r:id="rId10"/>
    <p:sldId id="286" r:id="rId11"/>
    <p:sldId id="288" r:id="rId12"/>
    <p:sldId id="290" r:id="rId13"/>
    <p:sldId id="289" r:id="rId14"/>
    <p:sldId id="291" r:id="rId15"/>
    <p:sldId id="293" r:id="rId16"/>
    <p:sldId id="294" r:id="rId17"/>
    <p:sldId id="297" r:id="rId18"/>
    <p:sldId id="311" r:id="rId19"/>
    <p:sldId id="295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8" r:id="rId29"/>
    <p:sldId id="307" r:id="rId30"/>
    <p:sldId id="309" r:id="rId31"/>
    <p:sldId id="310" r:id="rId32"/>
    <p:sldId id="268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F5B17E87-C05C-40F6-91FB-0114306EC172}">
          <p14:sldIdLst>
            <p14:sldId id="258"/>
            <p14:sldId id="296"/>
            <p14:sldId id="298"/>
            <p14:sldId id="281"/>
            <p14:sldId id="283"/>
          </p14:sldIdLst>
        </p14:section>
        <p14:section name="Создание ВМ" id="{255B7DAE-9DDC-4C01-8F83-4B0D48C50B82}">
          <p14:sldIdLst>
            <p14:sldId id="274"/>
            <p14:sldId id="282"/>
            <p14:sldId id="284"/>
            <p14:sldId id="285"/>
            <p14:sldId id="286"/>
            <p14:sldId id="288"/>
            <p14:sldId id="290"/>
            <p14:sldId id="289"/>
            <p14:sldId id="291"/>
            <p14:sldId id="293"/>
            <p14:sldId id="294"/>
          </p14:sldIdLst>
        </p14:section>
        <p14:section name="Процесс установки" id="{1E2C7418-6861-4681-8FD2-5D28CD4DA3BE}">
          <p14:sldIdLst>
            <p14:sldId id="297"/>
            <p14:sldId id="311"/>
            <p14:sldId id="295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8"/>
            <p14:sldId id="307"/>
            <p14:sldId id="309"/>
            <p14:sldId id="310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96" autoAdjust="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8D9F5-7440-45B8-B93B-F4135F1F863E}" type="datetimeFigureOut">
              <a:rPr lang="ru-RU" smtClean="0"/>
              <a:t>02.09.2026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18DE7-F931-4D6D-AD43-5448F1DB811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03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FB033-C513-3010-5849-5B58BEC9E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2225567"/>
          </a:xfr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bounded" pitchFamily="2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9F6D7B-2551-B874-7F29-B532C0487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1638"/>
            <a:ext cx="9144000" cy="1655762"/>
          </a:xfr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2400">
                <a:latin typeface="Consolas" panose="020B06090202040302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899C78-2A7B-7836-F859-6D164A88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16845FCF-0203-425C-9A21-39DBFB6EFCD4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93AF0-631B-A285-207A-F56C66FF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AFB79-CBED-86FF-E0AB-1B3F692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301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5BA5F-C1BB-7B46-5367-E657294B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FF2129-2B1B-16DF-9D30-79A41207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BA5052-A830-6ADE-5F2C-B9E69807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852E4-C8B9-424A-8468-6985F45039C5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BC0FE7-E95F-5FFE-4BEE-5E25B3E8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33D1B-F463-0138-2E3F-CFB7F77C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98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1BFA8-3607-013D-68DB-3843353C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431338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C22BDB-0886-DEE9-CD72-2887CF733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BD378-44BA-6127-1F00-1A94EAF13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C94A-6AD8-43FC-AC86-CA47F0C3CE56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E84BFB-6EC2-9473-FFF9-C3450CF0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62D4F-2595-21FF-66C8-8F0F6BE9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8906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D38D5-92D3-03AD-8BDC-6C7C9536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6295E-D623-997D-CF11-B0F33832D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089" y="1713186"/>
            <a:ext cx="5667704" cy="44637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4C4593-5C5B-F94D-7AFD-F7C71107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6207" y="1713186"/>
            <a:ext cx="5667704" cy="44637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227593-2E06-1EA0-EBB5-49023E07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B051A-B013-4869-BAA6-A51243905A49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ED4B23-7C76-13DC-9935-516FD67D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D4C907-C919-07F5-E961-9C3C7DCF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6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B94F1D2-9D34-2148-D1FF-C16E71D7C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167" y="1681163"/>
            <a:ext cx="5697647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Consolas" panose="020B060902020403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B91ADF-3B5B-02FD-61A2-492D37B86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9167" y="2505075"/>
            <a:ext cx="569764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967D44C-D543-670C-01AF-704CB20D3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5186" y="1681163"/>
            <a:ext cx="5697647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Consolas" panose="020B060902020403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85482-F8B0-0EAA-2D51-718CBCD3C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5186" y="2505075"/>
            <a:ext cx="569764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7E30729-D230-3AB9-C462-0FAD4250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6664-066B-4E4B-8539-42D2BBE30CCA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D2F690-DF2C-E30D-C35A-3E05DCE29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A218B2-3696-56BB-CD05-A51C98C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711092B-8BD6-65FA-F1A3-466119D1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6" y="325822"/>
            <a:ext cx="8891752" cy="92606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850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79ED6-3D35-0762-C442-942AC502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889B48-75A3-E8E2-AC34-F50C2BE7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35AF-98AE-42C9-9972-0EEF78E53DE9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6B1ED8-6A6F-E6D4-2DB4-71C93E38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7" name="Номер слайда 8">
            <a:extLst>
              <a:ext uri="{FF2B5EF4-FFF2-40B4-BE49-F238E27FC236}">
                <a16:creationId xmlns:a16="http://schemas.microsoft.com/office/drawing/2014/main" id="{8720165D-1DA8-68D2-C362-5BCE3C8E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082" y="6356350"/>
            <a:ext cx="2743200" cy="365125"/>
          </a:xfrm>
        </p:spPr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954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7E2B8E-985E-D370-935C-EE8DA028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10CD-7E7C-4879-8B23-6B09C3ABA4DC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2C6148-2AED-7D62-2705-C0164744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BE75EA-67FF-12EA-E5BD-9DCC93A0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595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6FE62-0185-8805-D36C-636922A24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C77FFA-66C5-3B2A-F137-92280404D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450428"/>
            <a:ext cx="6756564" cy="44106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220FDC-AD6E-AA11-14F9-62F09636D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6D5160-7667-3EE3-E893-DDE3D55E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BC23-A95C-487F-8874-811E59F87B5C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D7375E-63A6-D6E6-12AE-CFC5C587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F67AD8-A711-251A-054F-AA9AAD4A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17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B8390198-6995-1B20-D261-702AC2EC37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6779201" cy="3336925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54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1pPr>
            <a:lvl2pPr marL="457200" indent="0">
              <a:buNone/>
              <a:defRPr sz="48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2pPr>
            <a:lvl3pPr marL="914400" indent="0">
              <a:buNone/>
              <a:defRPr sz="44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3pPr>
            <a:lvl4pPr marL="13716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4pPr>
            <a:lvl5pPr marL="18288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FE32DF-D2CB-8B86-9937-E90FB831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550A-301C-431F-8F40-D1C2A5C53DF3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90CA3F-113E-F9EE-A7EE-A7BB63E1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CCA08A-A7FC-23A2-44F9-560F6969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02E520-3001-FCC6-233B-8C06C0B0AB1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717" y="136525"/>
            <a:ext cx="2055951" cy="19737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F70E57-4A89-5861-30E8-AB4164893D76}"/>
              </a:ext>
            </a:extLst>
          </p:cNvPr>
          <p:cNvSpPr txBox="1"/>
          <p:nvPr/>
        </p:nvSpPr>
        <p:spPr>
          <a:xfrm>
            <a:off x="2508755" y="608379"/>
            <a:ext cx="6629346" cy="925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ru-RU" sz="3600" dirty="0">
                <a:latin typeface="Unbounded" pitchFamily="2" charset="-52"/>
              </a:rPr>
              <a:t>Вопрос</a:t>
            </a:r>
            <a:endParaRPr lang="ru-RU" sz="4000" dirty="0">
              <a:latin typeface="Unbounded" pitchFamily="2" charset="-52"/>
            </a:endParaRP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A3F4166A-C012-A477-BC16-8DB714A3AD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500" y="2462213"/>
            <a:ext cx="4114800" cy="3336925"/>
          </a:xfrm>
          <a:noFill/>
          <a:ln>
            <a:noFill/>
          </a:ln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74180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CAC07-83A1-E06E-D04E-F4CB20EB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6" y="325822"/>
            <a:ext cx="8891752" cy="92606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F2864E-FF5F-0EDA-C8BE-DF4F3264D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205" y="1552356"/>
            <a:ext cx="11761077" cy="461721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1276AB-ADC3-68AA-BDE5-94F2EC04F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071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15F2748B-7776-488F-B12E-BB13FF28752E}" type="datetime1">
              <a:rPr lang="ru-RU" smtClean="0"/>
              <a:t>02.09.2026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08F6CF-3A53-1BA9-944C-AC5686155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8165E-B1D7-F4D6-990D-F10991D80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80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707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Unbounded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7190472-062B-A78F-E867-8D46EB531A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Введение.</a:t>
            </a:r>
            <a:br>
              <a:rPr lang="ru-RU" sz="3600" dirty="0"/>
            </a:br>
            <a:r>
              <a:rPr lang="ru-RU" sz="3600" dirty="0"/>
              <a:t>Установка операционной системы в </a:t>
            </a:r>
            <a:r>
              <a:rPr lang="en-US" sz="3600" dirty="0"/>
              <a:t>Oracle </a:t>
            </a:r>
            <a:r>
              <a:rPr lang="ru-RU" sz="3600" dirty="0" err="1"/>
              <a:t>VirtualBox</a:t>
            </a:r>
            <a:endParaRPr lang="ru-RU" sz="3600" dirty="0"/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709C2C68-18A0-6000-760A-39D5BA447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Операционные системы и среды. Практика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357064-C60B-F379-81D6-2B887457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C19E04-FF66-4A2F-E6D6-11139E26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79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95B01-5B1A-5774-D837-B530A87D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Небольшое вступление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C3FB391-E78A-5251-B5A4-868291C7E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 практических занятиях и </a:t>
            </a:r>
            <a:r>
              <a:rPr lang="en-US" dirty="0"/>
              <a:t>Oracle VirtualBox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F56DD1-9AC0-50A6-04C5-88AEB7CD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122D1C-F8D2-9348-E71A-CFF41590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924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AB5CF71-1737-61D7-DFD8-63F2D1A8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мы будем делать?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44255FF-FA7F-B4DB-AF86-8D356E7CF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8166879" cy="4617216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Практические занятия рассчитаны на изучение устройства операционных систем на базе ядра </a:t>
            </a:r>
            <a:r>
              <a:rPr lang="en-US" sz="3200" dirty="0"/>
              <a:t>Linux</a:t>
            </a:r>
            <a:r>
              <a:rPr lang="ru-RU" sz="3200" dirty="0"/>
              <a:t>.</a:t>
            </a:r>
            <a:endParaRPr lang="en-US" sz="3200" dirty="0"/>
          </a:p>
          <a:p>
            <a:r>
              <a:rPr lang="ru-RU" sz="3200" dirty="0"/>
              <a:t>Все практические занятия можно условно поделить на следующие логические части: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ru-RU" sz="2800" dirty="0"/>
              <a:t>Установка ОС в </a:t>
            </a:r>
            <a:r>
              <a:rPr lang="en-US" sz="2800" dirty="0"/>
              <a:t>VirtualBox</a:t>
            </a:r>
            <a:endParaRPr lang="ru-RU" sz="2800" dirty="0"/>
          </a:p>
          <a:p>
            <a:pPr lvl="1">
              <a:buFont typeface="Calibri" panose="020F0502020204030204" pitchFamily="34" charset="0"/>
              <a:buChar char="‒"/>
            </a:pPr>
            <a:r>
              <a:rPr lang="ru-RU" sz="2800" dirty="0"/>
              <a:t>Использование терминала и язык </a:t>
            </a:r>
            <a:r>
              <a:rPr lang="en-US" sz="2800" dirty="0"/>
              <a:t>Bash</a:t>
            </a:r>
            <a:endParaRPr lang="ru-RU" sz="2800" dirty="0"/>
          </a:p>
          <a:p>
            <a:pPr lvl="1">
              <a:buFont typeface="Calibri" panose="020F0502020204030204" pitchFamily="34" charset="0"/>
              <a:buChar char="‒"/>
            </a:pPr>
            <a:r>
              <a:rPr lang="ru-RU" sz="2800" dirty="0"/>
              <a:t>Немного программирования под </a:t>
            </a:r>
            <a:r>
              <a:rPr lang="en-US" sz="2800" dirty="0"/>
              <a:t>Linux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ru-RU" sz="2800" dirty="0"/>
              <a:t>Работа с совместимостью ОС</a:t>
            </a:r>
          </a:p>
          <a:p>
            <a:endParaRPr lang="ru-RU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899FCE-7DB2-75CE-BD0C-203A7036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CB3F6A-4FA9-F1E3-176B-E3968C15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3D2E4E-D190-FF8B-261C-8AFF6A027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307" y="3920146"/>
            <a:ext cx="2591162" cy="208626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1DA224-A39E-5A6C-5BA8-DD47C09A9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455" y="1670197"/>
            <a:ext cx="3300866" cy="190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4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C74E9-1B4B-03F6-8578-2B418242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VirtualBox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D428AD-2B04-898A-C2E3-7704DA22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1682457"/>
          </a:xfrm>
        </p:spPr>
        <p:txBody>
          <a:bodyPr anchor="t">
            <a:noAutofit/>
          </a:bodyPr>
          <a:lstStyle/>
          <a:p>
            <a:pPr>
              <a:lnSpc>
                <a:spcPct val="85000"/>
              </a:lnSpc>
              <a:spcBef>
                <a:spcPts val="500"/>
              </a:spcBef>
            </a:pPr>
            <a:r>
              <a:rPr lang="en-US" b="1" i="1" spc="-50" dirty="0"/>
              <a:t>Oracle VirtualBox</a:t>
            </a:r>
            <a:r>
              <a:rPr lang="en-US" spc="-50" dirty="0"/>
              <a:t> </a:t>
            </a:r>
            <a:r>
              <a:rPr lang="ru-RU" spc="-50" dirty="0"/>
              <a:t>— специальное программное обеспечение для создания виртуальных машин.</a:t>
            </a:r>
          </a:p>
          <a:p>
            <a:pPr>
              <a:lnSpc>
                <a:spcPct val="85000"/>
              </a:lnSpc>
              <a:spcBef>
                <a:spcPts val="500"/>
              </a:spcBef>
            </a:pPr>
            <a:r>
              <a:rPr lang="ru-RU" b="1" i="1" spc="-50" dirty="0"/>
              <a:t>Виртуальная машина</a:t>
            </a:r>
            <a:r>
              <a:rPr lang="ru-RU" spc="-50" dirty="0"/>
              <a:t> — это система, которая позволяет запускать гостевые операционные системы внутри хост-машины (локального компьютера).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9A72AF-E220-A9C4-B1E1-FB251337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AA1659-2659-D6CA-0247-A7179A78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AD9E32-0BA4-0281-3BB8-BB599C4C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547" y="3375235"/>
            <a:ext cx="6155086" cy="289262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3D3434-06D1-3658-93D5-CB0910523AA0}"/>
              </a:ext>
            </a:extLst>
          </p:cNvPr>
          <p:cNvSpPr txBox="1"/>
          <p:nvPr/>
        </p:nvSpPr>
        <p:spPr>
          <a:xfrm>
            <a:off x="8082116" y="4406049"/>
            <a:ext cx="3066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 выглядит версия</a:t>
            </a:r>
          </a:p>
          <a:p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VirtualBox 7.1.10</a:t>
            </a:r>
            <a:endParaRPr lang="ru-RU" sz="24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654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BC9E5B11-54BA-983F-9645-E465A3A048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10772327" cy="3336925"/>
          </a:xfrm>
        </p:spPr>
        <p:txBody>
          <a:bodyPr/>
          <a:lstStyle/>
          <a:p>
            <a:r>
              <a:rPr lang="ru-RU" sz="5000" dirty="0"/>
              <a:t>Для чего может понадобиться виртуальная машина?</a:t>
            </a:r>
          </a:p>
          <a:p>
            <a:r>
              <a:rPr lang="ru-RU" sz="5000" dirty="0"/>
              <a:t>В чем может быть ее преимущество перед локальным компьютером?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E6DE9E-44EC-7764-9442-D0B3E923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059F47-D223-C939-8CBE-D82E8AE2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372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F97DF97-116B-52FF-9EE1-A61C87D4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виртуальных машин в </a:t>
            </a:r>
            <a:r>
              <a:rPr lang="en-US" dirty="0"/>
              <a:t>Virtual Box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48FB363-5D7B-5054-3D79-CCBECB457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Виртуальная машина с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1A00D0-ED76-3A62-8BC1-2065960B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3697A7-D3FA-F032-FF53-2BA2B9C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02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5C4AB-8B55-8EE1-68AF-23A5CDCF0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Создание виртуальной машины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4A9DC1-3BE0-1F41-FE1F-A7E26E88A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6" y="1552356"/>
            <a:ext cx="9917020" cy="4617216"/>
          </a:xfrm>
        </p:spPr>
        <p:txBody>
          <a:bodyPr>
            <a:normAutofit/>
          </a:bodyPr>
          <a:lstStyle/>
          <a:p>
            <a:r>
              <a:rPr lang="ru-RU" sz="2900" dirty="0"/>
              <a:t>Для создания виртуальной машины необходимо нажать кнопку </a:t>
            </a:r>
            <a:r>
              <a:rPr lang="ru-RU" sz="2900" b="1" i="1" dirty="0"/>
              <a:t>Создать.</a:t>
            </a:r>
          </a:p>
          <a:p>
            <a:r>
              <a:rPr lang="ru-RU" sz="2900" dirty="0"/>
              <a:t>Нас будет встречать следующее окно с параметрами виртуальной машины.</a:t>
            </a:r>
          </a:p>
          <a:p>
            <a:r>
              <a:rPr lang="ru-RU" sz="2900" dirty="0"/>
              <a:t>Каждое конкретное меню</a:t>
            </a:r>
            <a:br>
              <a:rPr lang="ru-RU" sz="2900" dirty="0"/>
            </a:br>
            <a:r>
              <a:rPr lang="ru-RU" sz="2900" dirty="0"/>
              <a:t>будет рассмотрено далее.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sz="2900" i="1" dirty="0"/>
              <a:t>В версиях ниже</a:t>
            </a:r>
            <a:br>
              <a:rPr lang="en-US" sz="2900" i="1" dirty="0"/>
            </a:br>
            <a:r>
              <a:rPr lang="en-US" sz="2900" i="1" dirty="0"/>
              <a:t>VirtualBox 7 </a:t>
            </a:r>
            <a:r>
              <a:rPr lang="ru-RU" sz="2900" i="1" dirty="0"/>
              <a:t>интерфейс</a:t>
            </a:r>
            <a:br>
              <a:rPr lang="ru-RU" sz="2900" i="1" dirty="0"/>
            </a:br>
            <a:r>
              <a:rPr lang="ru-RU" sz="2900" i="1" dirty="0"/>
              <a:t>отличается.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25E40FB-8A0E-0BBB-C933-BA2A45E6D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FDAA43-8AD3-6639-C3C6-A6577EF9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6AE411-B7E5-ABDF-E0E4-F6398695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682" y="1648137"/>
            <a:ext cx="1065161" cy="9799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045002-1D2B-C950-3829-C87D3418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730" y="3140800"/>
            <a:ext cx="6614113" cy="3028772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896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ECDE4-06B0-FA2E-6864-59666366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Имя и тип 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D46873-98DC-1A9E-6815-4C09AB0E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Первый раздел — </a:t>
            </a:r>
            <a:r>
              <a:rPr lang="ru-RU" b="1" i="1" dirty="0"/>
              <a:t>Имя и тип ОС</a:t>
            </a:r>
            <a:r>
              <a:rPr lang="ru-RU" dirty="0"/>
              <a:t>.</a:t>
            </a:r>
          </a:p>
          <a:p>
            <a:r>
              <a:rPr lang="ru-RU" u="sng" dirty="0"/>
              <a:t>Имя</a:t>
            </a:r>
            <a:r>
              <a:rPr lang="ru-RU" dirty="0"/>
              <a:t> — имя вашей виртуальной машины для различения, удобно задавать осмысленное имя, особенно, если виртуальных машин больше одной.</a:t>
            </a:r>
          </a:p>
          <a:p>
            <a:r>
              <a:rPr lang="ru-RU" u="sng" dirty="0"/>
              <a:t>Папка</a:t>
            </a:r>
            <a:r>
              <a:rPr lang="ru-RU" dirty="0"/>
              <a:t> — каталог, в котором будут находиться бинарные файлы виртуальной машины.</a:t>
            </a:r>
          </a:p>
          <a:p>
            <a:r>
              <a:rPr lang="ru-RU" u="sng" dirty="0"/>
              <a:t>Образ</a:t>
            </a:r>
            <a:r>
              <a:rPr lang="en-US" u="sng" dirty="0"/>
              <a:t> ISO</a:t>
            </a:r>
            <a:r>
              <a:rPr lang="ru-RU" dirty="0"/>
              <a:t> — дисковый образ, с которого будет осуществляться установка ОС.</a:t>
            </a:r>
          </a:p>
          <a:p>
            <a:r>
              <a:rPr lang="ru-RU" u="sng" dirty="0"/>
              <a:t>Редакция</a:t>
            </a:r>
            <a:r>
              <a:rPr lang="ru-RU" dirty="0"/>
              <a:t> — возможная редакция ОС, зависит от предоставляемого образа. Например, для </a:t>
            </a:r>
            <a:r>
              <a:rPr lang="en-US" dirty="0"/>
              <a:t>Windows: Pro, Home, Enterprise</a:t>
            </a:r>
            <a:r>
              <a:rPr lang="ru-RU" dirty="0"/>
              <a:t> и </a:t>
            </a:r>
            <a:r>
              <a:rPr lang="ru-RU" dirty="0" err="1"/>
              <a:t>т.д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8E3173-B91A-C7DC-A15A-4A51CF09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46230C-C747-8FA7-2439-E3E4D764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7308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FEB-BC57-B22A-ABD5-109F5AB3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5617A-C401-BF95-5338-8240E6E7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Имя и тип 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5C0CC-8E13-F22A-A8F0-97E38464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Первый раздел — </a:t>
            </a:r>
            <a:r>
              <a:rPr lang="ru-RU" b="1" i="1" dirty="0"/>
              <a:t>Имя и тип ОС</a:t>
            </a:r>
            <a:r>
              <a:rPr lang="ru-RU" dirty="0"/>
              <a:t>.</a:t>
            </a:r>
          </a:p>
          <a:p>
            <a:r>
              <a:rPr lang="ru-RU" u="sng" dirty="0"/>
              <a:t>Тип, подтип и версия</a:t>
            </a:r>
            <a:r>
              <a:rPr lang="ru-RU" dirty="0"/>
              <a:t> — независящие от устанавливаемой ОС параметры, они нужны лишь для определения наиболее подходящей конфигурации виртуального оборудования.</a:t>
            </a:r>
          </a:p>
          <a:p>
            <a:r>
              <a:rPr lang="ru-RU" dirty="0"/>
              <a:t>Можно заметить, что тип и подтип могут автоматически определяться по имени виртуальной машины.</a:t>
            </a:r>
          </a:p>
          <a:p>
            <a:r>
              <a:rPr lang="ru-RU" u="sng" dirty="0"/>
              <a:t>Тип</a:t>
            </a:r>
            <a:r>
              <a:rPr lang="ru-RU" dirty="0"/>
              <a:t> — семейство операционных систем.</a:t>
            </a:r>
          </a:p>
          <a:p>
            <a:r>
              <a:rPr lang="ru-RU" u="sng" dirty="0"/>
              <a:t>Подтип</a:t>
            </a:r>
            <a:r>
              <a:rPr lang="ru-RU" dirty="0"/>
              <a:t> — дистрибутив, если предусмотрено системой.</a:t>
            </a:r>
          </a:p>
          <a:p>
            <a:r>
              <a:rPr lang="ru-RU" u="sng" dirty="0"/>
              <a:t>Версия</a:t>
            </a:r>
            <a:r>
              <a:rPr lang="ru-RU" dirty="0"/>
              <a:t> — версия операционной системы.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6D1B9F-731A-4508-9B2B-674571CD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ECE813-272D-648E-5BC5-9A5CB321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987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A0FFA-2F5E-1203-0DC1-9E4506BA9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Имя и тип 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F73013-524F-1000-6FDC-654601A7B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 курсе мы будем пользоваться операционной системой на базе ядра </a:t>
            </a:r>
            <a:r>
              <a:rPr lang="en-US" dirty="0"/>
              <a:t>Linux</a:t>
            </a:r>
            <a:r>
              <a:rPr lang="ru-RU" dirty="0"/>
              <a:t> (традиционно это </a:t>
            </a:r>
            <a:r>
              <a:rPr lang="en-US" b="1" i="1" dirty="0"/>
              <a:t>Ubuntu Server</a:t>
            </a:r>
            <a:r>
              <a:rPr lang="ru-RU" b="1" i="1" dirty="0"/>
              <a:t> </a:t>
            </a:r>
            <a:r>
              <a:rPr lang="en-US" b="1" i="1" dirty="0"/>
              <a:t>LTS</a:t>
            </a:r>
            <a:r>
              <a:rPr lang="ru-RU" dirty="0"/>
              <a:t>). Образ операционной системы расположен на сетевой папке. </a:t>
            </a:r>
            <a:r>
              <a:rPr lang="ru-RU" b="1" u="sng" dirty="0">
                <a:solidFill>
                  <a:srgbClr val="C00000"/>
                </a:solidFill>
              </a:rPr>
              <a:t>Следует его скопировать на локальный компьютер</a:t>
            </a:r>
            <a:r>
              <a:rPr lang="ru-RU" dirty="0"/>
              <a:t>.</a:t>
            </a:r>
          </a:p>
          <a:p>
            <a:r>
              <a:rPr lang="ru-RU" dirty="0"/>
              <a:t>Задайте своей</a:t>
            </a:r>
            <a:br>
              <a:rPr lang="ru-RU" dirty="0"/>
            </a:br>
            <a:r>
              <a:rPr lang="ru-RU" dirty="0"/>
              <a:t>виртуальной машине</a:t>
            </a:r>
            <a:br>
              <a:rPr lang="ru-RU" dirty="0"/>
            </a:br>
            <a:r>
              <a:rPr lang="ru-RU" dirty="0"/>
              <a:t>все необходимые</a:t>
            </a:r>
            <a:br>
              <a:rPr lang="ru-RU" dirty="0"/>
            </a:br>
            <a:r>
              <a:rPr lang="ru-RU" dirty="0"/>
              <a:t>параметры в данном</a:t>
            </a:r>
            <a:br>
              <a:rPr lang="ru-RU" dirty="0"/>
            </a:br>
            <a:r>
              <a:rPr lang="ru-RU" dirty="0"/>
              <a:t>меню.</a:t>
            </a:r>
            <a:br>
              <a:rPr lang="ru-RU" dirty="0"/>
            </a:br>
            <a:r>
              <a:rPr lang="ru-RU" i="1" dirty="0"/>
              <a:t>Пример справа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dirty="0"/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Поставьте галочку на пункте «</a:t>
            </a:r>
            <a:r>
              <a:rPr lang="ru-RU" b="1" dirty="0"/>
              <a:t>Пропустить автоматическую установку</a:t>
            </a:r>
            <a:r>
              <a:rPr lang="ru-RU" dirty="0"/>
              <a:t>»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634F4A-ED39-91DB-8B18-12357C3F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59EBDA-E3ED-AC38-3F6A-BDE6B07C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355927-079B-12FC-59F1-1071068FD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164" y="2915767"/>
            <a:ext cx="7334784" cy="238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18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6D63-8F6C-6837-70B0-9A478307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7419C-FECA-41A3-FA8D-182F72E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Автоматическая установка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B517F6-5FFA-460F-1CBD-3C6234FF1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Второй раздел — </a:t>
            </a:r>
            <a:r>
              <a:rPr lang="ru-RU" b="1" i="1" dirty="0"/>
              <a:t>Автоматическая установка</a:t>
            </a:r>
            <a:r>
              <a:rPr lang="ru-RU" dirty="0"/>
              <a:t>.</a:t>
            </a:r>
          </a:p>
          <a:p>
            <a:r>
              <a:rPr lang="ru-RU" dirty="0"/>
              <a:t>Данный раздел нужен для автоматической установки операционной системы. Мы его пропустим по нескольким причинам, но все-таки пояснения ниже предоставлены.</a:t>
            </a:r>
          </a:p>
          <a:p>
            <a:r>
              <a:rPr lang="ru-RU" u="sng" dirty="0"/>
              <a:t>Имя пользователя и пароль</a:t>
            </a:r>
            <a:r>
              <a:rPr lang="ru-RU" dirty="0"/>
              <a:t> — автоматическая регистрация учетной записи с заданным логином и паролем.</a:t>
            </a:r>
          </a:p>
          <a:p>
            <a:r>
              <a:rPr lang="ru-RU" u="sng" dirty="0"/>
              <a:t>Дополнительные опции</a:t>
            </a:r>
            <a:r>
              <a:rPr lang="ru-RU" dirty="0"/>
              <a:t>: ключ продукта (лицензия на ОС), имя ПК (наименование компьютера), доменное имя (домен в частной сети).</a:t>
            </a:r>
          </a:p>
          <a:p>
            <a:r>
              <a:rPr lang="ru-RU" u="sng" dirty="0"/>
              <a:t>Дополнения гостевой ОС</a:t>
            </a:r>
            <a:r>
              <a:rPr lang="ru-RU" dirty="0"/>
              <a:t> — набор драйверов для работы системы в качестве виртуальной машины. Мы его будем устанавливать сами.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24D4FB-8271-B8B9-3A57-304EC553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23D7E2-2D6E-4A0C-957D-FB79E632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8055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1EF5-73ED-5950-569A-4160DA95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41F34-BAAD-EC39-9F9B-645F0EF6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Оборудование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774CC9-3ADC-B335-2599-1C406DA31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Третий раздел — </a:t>
            </a:r>
            <a:r>
              <a:rPr lang="ru-RU" b="1" i="1" dirty="0"/>
              <a:t>Оборудование</a:t>
            </a:r>
            <a:r>
              <a:rPr lang="ru-RU" dirty="0"/>
              <a:t>.</a:t>
            </a:r>
          </a:p>
          <a:p>
            <a:r>
              <a:rPr lang="ru-RU" dirty="0"/>
              <a:t>Здесь указываются аппаратные возможности нашей виртуальной машины.</a:t>
            </a:r>
          </a:p>
          <a:p>
            <a:r>
              <a:rPr lang="ru-RU" u="sng" dirty="0"/>
              <a:t>Основная память</a:t>
            </a:r>
            <a:r>
              <a:rPr lang="ru-RU" dirty="0"/>
              <a:t> — количество оперативной памяти, выделенной для работы ОС.</a:t>
            </a:r>
          </a:p>
          <a:p>
            <a:r>
              <a:rPr lang="ru-RU" u="sng" dirty="0"/>
              <a:t>Процессоры</a:t>
            </a:r>
            <a:r>
              <a:rPr lang="ru-RU" dirty="0"/>
              <a:t> — количество арифметико-логических устройств, доступных данной ОС.</a:t>
            </a:r>
          </a:p>
          <a:p>
            <a:r>
              <a:rPr lang="ru-RU" u="sng" dirty="0"/>
              <a:t>Включить </a:t>
            </a:r>
            <a:r>
              <a:rPr lang="en-US" u="sng" dirty="0"/>
              <a:t>EFI</a:t>
            </a:r>
            <a:r>
              <a:rPr lang="ru-RU" dirty="0"/>
              <a:t> — параметр, определяющий использование более современного интерфейса обмена данными </a:t>
            </a:r>
            <a:r>
              <a:rPr lang="en-US" dirty="0"/>
              <a:t>EFI </a:t>
            </a:r>
            <a:r>
              <a:rPr lang="ru-RU" dirty="0"/>
              <a:t>(вместо </a:t>
            </a:r>
            <a:r>
              <a:rPr lang="en-US" dirty="0"/>
              <a:t>BIOS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между аппаратной и программной частями компьютера.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7C1E38-B16D-8643-8DCD-8B972B5B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087BEB-E141-4850-955C-0C0C9249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375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C6450-EA76-E653-4ECA-9A8454C4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Оборудование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1166DF-1F3E-13A2-9919-BA5BD597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Ubuntu Server</a:t>
            </a:r>
            <a:r>
              <a:rPr lang="ru-RU" dirty="0"/>
              <a:t> — не самая требовательная операционная система.</a:t>
            </a:r>
          </a:p>
          <a:p>
            <a:r>
              <a:rPr lang="ru-RU" dirty="0"/>
              <a:t>Для наших учебных целей будет достаточно выделить виртуальной машине 2 Гб основной памяти (для нормальной установки, при штатной работе можно использовать и менее 1 Гб) и 1 ЦП. </a:t>
            </a:r>
            <a:r>
              <a:rPr lang="en-US" dirty="0"/>
              <a:t>EFI </a:t>
            </a:r>
            <a:r>
              <a:rPr lang="ru-RU" dirty="0"/>
              <a:t>включать не нужно.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ACF0BF-7587-2E8F-8F3D-74153AA40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8900AB-62FD-721F-E019-5931FF14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5F6C2F-4889-2C3A-8F88-68E9643C1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621" y="3753560"/>
            <a:ext cx="8584244" cy="167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2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8B45-35A8-F9EA-B030-A5ED4E2A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72794-DDC1-2B70-4178-689152E8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Жесткий диск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A7D951-1E2E-1203-BAE4-6CD7ED5D6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Четвертый раздел — </a:t>
            </a:r>
            <a:r>
              <a:rPr lang="ru-RU" b="1" i="1" dirty="0"/>
              <a:t>Жесткий диск</a:t>
            </a:r>
            <a:r>
              <a:rPr lang="ru-RU" dirty="0"/>
              <a:t>.</a:t>
            </a:r>
          </a:p>
          <a:p>
            <a:r>
              <a:rPr lang="ru-RU" dirty="0"/>
              <a:t>Здесь указывается объем постоянной памяти, требуемой нашей ОС. В качестве хранилища для всей виртуальной машины будет использоваться бинарный файл виртуального жесткого диска.</a:t>
            </a:r>
          </a:p>
          <a:p>
            <a:r>
              <a:rPr lang="ru-RU" dirty="0"/>
              <a:t>На выбор можно использовать три варианта: </a:t>
            </a:r>
            <a:r>
              <a:rPr lang="ru-RU" b="1" i="1" dirty="0"/>
              <a:t>создать новый файл</a:t>
            </a:r>
            <a:r>
              <a:rPr lang="ru-RU" dirty="0"/>
              <a:t>, </a:t>
            </a:r>
            <a:r>
              <a:rPr lang="ru-RU" b="1" i="1" dirty="0"/>
              <a:t>подключить существующий</a:t>
            </a:r>
            <a:r>
              <a:rPr lang="ru-RU" dirty="0"/>
              <a:t> или </a:t>
            </a:r>
            <a:r>
              <a:rPr lang="ru-RU" b="1" i="1" dirty="0"/>
              <a:t>не подключать вовсе</a:t>
            </a:r>
            <a:r>
              <a:rPr lang="ru-RU" dirty="0"/>
              <a:t>.</a:t>
            </a:r>
          </a:p>
          <a:p>
            <a:r>
              <a:rPr lang="ru-RU" dirty="0"/>
              <a:t>При </a:t>
            </a:r>
            <a:r>
              <a:rPr lang="ru-RU" u="sng" dirty="0"/>
              <a:t>создании нового файла</a:t>
            </a:r>
            <a:r>
              <a:rPr lang="ru-RU" dirty="0"/>
              <a:t> можно определить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ru-RU" u="sng" dirty="0"/>
              <a:t>Расположение</a:t>
            </a:r>
            <a:r>
              <a:rPr lang="ru-RU" dirty="0"/>
              <a:t> — путь, по которому будет создан файл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ru-RU" u="sng" dirty="0"/>
              <a:t>Размер</a:t>
            </a:r>
            <a:r>
              <a:rPr lang="ru-RU" dirty="0"/>
              <a:t> — виртуальный размер файла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ru-RU" u="sng" dirty="0"/>
              <a:t>Формат</a:t>
            </a:r>
            <a:r>
              <a:rPr lang="ru-RU" dirty="0"/>
              <a:t> — бинарный формат диска (если необходимо обмениваться файлами)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7DDB09F-94E9-102C-07AC-4A35889C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4EC23C-106E-8373-7CB6-B2A8954B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2488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97689-1DD8-13E2-496C-D5C43C8C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7E817-D5BE-3B65-B441-59151F99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Жесткий диск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B440C-95A8-40E6-847D-F1734BE1A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Нам нужно создать новый жесткий диск. Для нашей ОС</a:t>
            </a:r>
            <a:r>
              <a:rPr lang="en-US" dirty="0"/>
              <a:t> </a:t>
            </a:r>
            <a:r>
              <a:rPr lang="ru-RU" dirty="0"/>
              <a:t>достаточно выделить всего 10-20 Гб свободного места. Формат диска можно не менять.</a:t>
            </a:r>
          </a:p>
          <a:p>
            <a:r>
              <a:rPr lang="ru-RU" dirty="0"/>
              <a:t>Особого внимания</a:t>
            </a:r>
            <a:br>
              <a:rPr lang="ru-RU" dirty="0"/>
            </a:br>
            <a:r>
              <a:rPr lang="ru-RU" dirty="0"/>
              <a:t>стоит пункт «</a:t>
            </a:r>
            <a:r>
              <a:rPr lang="ru-RU" i="1" dirty="0"/>
              <a:t>Выделить</a:t>
            </a:r>
            <a:br>
              <a:rPr lang="ru-RU" i="1" dirty="0"/>
            </a:br>
            <a:r>
              <a:rPr lang="ru-RU" i="1" dirty="0"/>
              <a:t>место в полном размере</a:t>
            </a:r>
            <a:r>
              <a:rPr lang="ru-RU" dirty="0"/>
              <a:t>».</a:t>
            </a:r>
            <a:br>
              <a:rPr lang="ru-RU" dirty="0"/>
            </a:br>
            <a:r>
              <a:rPr lang="ru-RU" dirty="0"/>
              <a:t>Если его </a:t>
            </a:r>
            <a:r>
              <a:rPr lang="ru-RU" u="sng" dirty="0"/>
              <a:t>не включать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система будет</a:t>
            </a:r>
            <a:br>
              <a:rPr lang="ru-RU" dirty="0"/>
            </a:br>
            <a:r>
              <a:rPr lang="ru-RU" dirty="0"/>
              <a:t>использовать только</a:t>
            </a:r>
            <a:br>
              <a:rPr lang="ru-RU" dirty="0"/>
            </a:br>
            <a:r>
              <a:rPr lang="ru-RU" dirty="0"/>
              <a:t>необходимое количество</a:t>
            </a:r>
            <a:br>
              <a:rPr lang="ru-RU" dirty="0"/>
            </a:br>
            <a:r>
              <a:rPr lang="ru-RU" dirty="0"/>
              <a:t>реальной памяти.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A8BA54-D1D2-5620-EF53-228CD876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0C738F-4D29-0372-8395-5644D432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7D57FF-60A8-E63C-8E8E-5F3BAE31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994" y="3254268"/>
            <a:ext cx="7137860" cy="248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81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C87D7-65D7-C7CB-1AF3-686AEA7BF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виртуальной машины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7D7D16-F0AF-94FC-0D70-2A60320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8570001" cy="4617216"/>
          </a:xfrm>
        </p:spPr>
        <p:txBody>
          <a:bodyPr/>
          <a:lstStyle/>
          <a:p>
            <a:r>
              <a:rPr lang="ru-RU" dirty="0"/>
              <a:t>После настройки всех параметров в </a:t>
            </a:r>
            <a:r>
              <a:rPr lang="en-US" dirty="0"/>
              <a:t>VirtualBox </a:t>
            </a:r>
            <a:r>
              <a:rPr lang="ru-RU" dirty="0"/>
              <a:t>появится первая ОС. Однако она еще не установлена.</a:t>
            </a:r>
          </a:p>
          <a:p>
            <a:r>
              <a:rPr lang="ru-RU" dirty="0"/>
              <a:t>Процесс установки начнется после запуска виртуальной машины. Для запуска нужно нажать кнопку «Запустить».</a:t>
            </a:r>
          </a:p>
          <a:p>
            <a:r>
              <a:rPr lang="ru-RU" dirty="0"/>
              <a:t>При запуске вас встретит окно</a:t>
            </a:r>
            <a:br>
              <a:rPr lang="ru-RU" dirty="0"/>
            </a:br>
            <a:r>
              <a:rPr lang="ru-RU" dirty="0"/>
              <a:t>загрузчика </a:t>
            </a:r>
            <a:r>
              <a:rPr lang="en-US" dirty="0"/>
              <a:t>GRUB</a:t>
            </a:r>
            <a:r>
              <a:rPr lang="ru-RU" dirty="0"/>
              <a:t>. Для установки</a:t>
            </a:r>
            <a:br>
              <a:rPr lang="ru-RU" dirty="0"/>
            </a:br>
            <a:r>
              <a:rPr lang="ru-RU" dirty="0"/>
              <a:t>нужно выбрать первый вариант</a:t>
            </a:r>
            <a:br>
              <a:rPr lang="ru-RU" dirty="0"/>
            </a:br>
            <a:r>
              <a:rPr lang="ru-RU" dirty="0"/>
              <a:t>«</a:t>
            </a:r>
            <a:r>
              <a:rPr lang="en-US" i="1" dirty="0"/>
              <a:t>Try or Install Ubuntu Server</a:t>
            </a:r>
            <a:r>
              <a:rPr lang="ru-RU" dirty="0"/>
              <a:t>» с</a:t>
            </a:r>
            <a:br>
              <a:rPr lang="ru-RU" dirty="0"/>
            </a:br>
            <a:r>
              <a:rPr lang="ru-RU" dirty="0"/>
              <a:t>помощью клавиши </a:t>
            </a:r>
            <a:r>
              <a:rPr lang="en-US" dirty="0"/>
              <a:t>Enter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F3C53-B079-194D-8979-2D6F8B56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66ACDF-A68C-6A0E-7856-FDFC32B8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C6D19F-01FE-F852-4A3E-618322C6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809" y="1631610"/>
            <a:ext cx="2987483" cy="7335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3FDBDF-B7CA-18A3-83B2-5264181FF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430" y="2522022"/>
            <a:ext cx="853872" cy="7791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65A55AC-8CB1-FF1D-179A-7E8B0FB82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406" y="3497790"/>
            <a:ext cx="5367352" cy="269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76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20B715A-CEB7-09FA-943C-5C195781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установки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2F0B5E8-8E49-1D50-340F-12760DCE8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Установка ОС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1CBD2E-DF09-9C92-9BAF-24CE3B73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A23617-F1A3-0985-D6DB-D3158DF1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6399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BC9E918-BFBB-1BD0-75E7-82E24B29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Важное замечание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936D73A-1812-9194-0A6D-A1D6C9723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ru-RU" sz="3600" b="1" i="1" dirty="0">
                <a:solidFill>
                  <a:srgbClr val="FF0000"/>
                </a:solidFill>
              </a:rPr>
              <a:t>Замечание!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Далее по презентации будет показан процесс установки операционной системы </a:t>
            </a:r>
            <a:r>
              <a:rPr lang="en-US" b="1" i="1" dirty="0"/>
              <a:t>Ubuntu Server</a:t>
            </a:r>
            <a:r>
              <a:rPr lang="ru-RU" dirty="0"/>
              <a:t>. Однако, теми же принципами можно руководствоваться для любой операционной системы на базе ядра </a:t>
            </a:r>
            <a:r>
              <a:rPr lang="en-US" dirty="0"/>
              <a:t>Linux</a:t>
            </a:r>
            <a:r>
              <a:rPr lang="ru-RU" dirty="0"/>
              <a:t>, например </a:t>
            </a:r>
            <a:r>
              <a:rPr lang="ru-RU" b="1" i="1" dirty="0"/>
              <a:t>ОС </a:t>
            </a:r>
            <a:r>
              <a:rPr lang="en-US" b="1" i="1" dirty="0"/>
              <a:t>Debian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E5D582-0053-07B5-D2F7-4EC713BFF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76E54C-19FA-141B-B049-7D9687F1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2615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1B954-4FDC-5B96-CAC6-465837E3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3F0514-7230-E59C-0F97-E8EAD1D6C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5148376" cy="4617216"/>
          </a:xfrm>
        </p:spPr>
        <p:txBody>
          <a:bodyPr/>
          <a:lstStyle/>
          <a:p>
            <a:r>
              <a:rPr lang="ru-RU" dirty="0"/>
              <a:t>Итак, на встречает экран с выбором языка.</a:t>
            </a:r>
          </a:p>
          <a:p>
            <a:r>
              <a:rPr lang="ru-RU" dirty="0"/>
              <a:t>Для перемещения используются:</a:t>
            </a:r>
          </a:p>
          <a:p>
            <a:pPr lvl="1"/>
            <a:r>
              <a:rPr lang="ru-RU" dirty="0"/>
              <a:t>Стрелки (для перемещения между элементами)</a:t>
            </a:r>
          </a:p>
          <a:p>
            <a:pPr lvl="1"/>
            <a:r>
              <a:rPr lang="en-US" dirty="0"/>
              <a:t>TAB </a:t>
            </a:r>
            <a:r>
              <a:rPr lang="ru-RU" dirty="0"/>
              <a:t>и </a:t>
            </a:r>
            <a:r>
              <a:rPr lang="en-US" dirty="0" err="1"/>
              <a:t>Shift+TAB</a:t>
            </a:r>
            <a:r>
              <a:rPr lang="ru-RU" dirty="0"/>
              <a:t> (для перемещения между группами элементов)</a:t>
            </a:r>
            <a:endParaRPr lang="en-US" dirty="0"/>
          </a:p>
          <a:p>
            <a:pPr lvl="1"/>
            <a:r>
              <a:rPr lang="en-US" dirty="0"/>
              <a:t>Enter</a:t>
            </a:r>
            <a:r>
              <a:rPr lang="ru-RU" dirty="0"/>
              <a:t> (для ввода)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Page Up/Page Down/Home/End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302D47-978C-76E1-CA42-CC51F9BF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44E195-888A-1ABE-26F3-7FE2D245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60E9CC-B98A-5C45-70CE-290CA58F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840" y="2237399"/>
            <a:ext cx="6391955" cy="313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37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EB2F-5004-2500-EE7E-E878CCC0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30E93-364A-8158-0406-5EDEB2DD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EEA6C-84C7-B22F-F10D-C64A3736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После выбора языка можно выбрать раскладку.</a:t>
            </a:r>
          </a:p>
          <a:p>
            <a:r>
              <a:rPr lang="ru-RU" sz="2600" dirty="0"/>
              <a:t>Для нас раскладка не важна — в консоли изменить язык проблематично, поэтому этот шаг пропускаем. Выбираем «Готово» и идем дальше.</a:t>
            </a:r>
          </a:p>
          <a:p>
            <a:r>
              <a:rPr lang="ru-RU" sz="2600" dirty="0"/>
              <a:t>В следующем окне можем назначить комбинацию клавиш для переключения раскладки, что тоже нам не нужно.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8DE4E1-0EFC-6E12-8F80-7DF65862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F2181E-3E98-A9F2-0EA6-F8F6E195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378799-CED7-FA73-5352-65BF5896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907"/>
          <a:stretch>
            <a:fillRect/>
          </a:stretch>
        </p:blipFill>
        <p:spPr>
          <a:xfrm>
            <a:off x="1674281" y="3721220"/>
            <a:ext cx="8843438" cy="178947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5BFA49-ADED-B5AF-C9C8-77BF013E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85"/>
          <a:stretch>
            <a:fillRect/>
          </a:stretch>
        </p:blipFill>
        <p:spPr>
          <a:xfrm>
            <a:off x="1674281" y="5510691"/>
            <a:ext cx="8843438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89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6467-27CD-7B10-EAA8-26E9D8C8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FD920-0BBB-6265-7BD5-4A86AD49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0B012-FA2F-BA47-7573-B9E37EE4E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6" y="1552356"/>
            <a:ext cx="5227034" cy="4617216"/>
          </a:xfrm>
        </p:spPr>
        <p:txBody>
          <a:bodyPr/>
          <a:lstStyle/>
          <a:p>
            <a:r>
              <a:rPr lang="ru-RU" dirty="0"/>
              <a:t>Следующий этап — выбор набора базовых программ. Он может быть стандартным или минимальным.</a:t>
            </a:r>
          </a:p>
          <a:p>
            <a:r>
              <a:rPr lang="ru-RU" dirty="0"/>
              <a:t>В минимальном наборе программ есть только малая часть того, что необходимо для работы ОС, но прикладных программ мало, поэтому лучше сразу использовать </a:t>
            </a:r>
            <a:r>
              <a:rPr lang="ru-RU" u="sng" dirty="0"/>
              <a:t>стандартный набор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3B061B-6727-C22B-DA33-2D13BDAE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4B42E4-A5F6-E7FC-B2BC-20976C32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BBC95F-46CE-37D5-847B-AAA60EBEB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993"/>
          <a:stretch>
            <a:fillRect/>
          </a:stretch>
        </p:blipFill>
        <p:spPr>
          <a:xfrm>
            <a:off x="5525541" y="1660682"/>
            <a:ext cx="6607467" cy="21434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96463F-0F99-6E8C-2EF5-C5CADE325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85"/>
          <a:stretch>
            <a:fillRect/>
          </a:stretch>
        </p:blipFill>
        <p:spPr>
          <a:xfrm>
            <a:off x="5525540" y="3804115"/>
            <a:ext cx="6607467" cy="3732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AB10B5-93BF-9E17-501E-B084112EAF6F}"/>
              </a:ext>
            </a:extLst>
          </p:cNvPr>
          <p:cNvSpPr txBox="1"/>
          <p:nvPr/>
        </p:nvSpPr>
        <p:spPr>
          <a:xfrm>
            <a:off x="5750085" y="4364134"/>
            <a:ext cx="61583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Также есть пункт установки сторонних драйверов.</a:t>
            </a:r>
            <a:br>
              <a:rPr lang="ru-RU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Нам такие не понадобятся.</a:t>
            </a:r>
          </a:p>
        </p:txBody>
      </p:sp>
    </p:spTree>
    <p:extLst>
      <p:ext uri="{BB962C8B-B14F-4D97-AF65-F5344CB8AC3E}">
        <p14:creationId xmlns:p14="http://schemas.microsoft.com/office/powerpoint/2010/main" val="3809348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CF193-6DA2-DBF5-2161-8D0C45B7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792FC-55F9-44D3-FEFA-A313B58A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07C0E-45E1-6421-B26B-96B717869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1279334"/>
          </a:xfrm>
        </p:spPr>
        <p:txBody>
          <a:bodyPr>
            <a:normAutofit fontScale="92500"/>
          </a:bodyPr>
          <a:lstStyle/>
          <a:p>
            <a:r>
              <a:rPr lang="ru-RU" dirty="0"/>
              <a:t>Далее идет шаг настройки интернет-соединения и прокси-сервера. В </a:t>
            </a:r>
            <a:r>
              <a:rPr lang="en-US" dirty="0"/>
              <a:t>VirtualBox </a:t>
            </a:r>
            <a:r>
              <a:rPr lang="ru-RU" dirty="0"/>
              <a:t>используется по умолчанию для сетевых адаптеров используется </a:t>
            </a:r>
            <a:r>
              <a:rPr lang="en-US" dirty="0"/>
              <a:t>NAT</a:t>
            </a:r>
            <a:r>
              <a:rPr lang="ru-RU" dirty="0"/>
              <a:t>, поэтому на данном этапе настройку выполнять не нужно.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CAC385-30C7-E543-ECD8-0B793060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F27C73-BB7F-3093-BCD0-20A6B6E7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22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7D1D66-4F12-38DB-C2B6-74B8D61C5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780"/>
          <a:stretch>
            <a:fillRect/>
          </a:stretch>
        </p:blipFill>
        <p:spPr>
          <a:xfrm>
            <a:off x="1655500" y="2923323"/>
            <a:ext cx="8870485" cy="17981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68D4D90-1C10-4C1C-E33F-9FED211E7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500" y="4773805"/>
            <a:ext cx="8870485" cy="151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24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A823A-0DD4-0B80-D0B9-85336CD4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23CF5F-4AE4-C434-EFCE-7829D393B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1318663"/>
          </a:xfrm>
        </p:spPr>
        <p:txBody>
          <a:bodyPr/>
          <a:lstStyle/>
          <a:p>
            <a:r>
              <a:rPr lang="ru-RU" dirty="0"/>
              <a:t>В следующем окне определяется адрес репозитория для скачивания необходимых пакетов. Часто лучше всего использовать локальные зеркала, чем официальный репозиторий </a:t>
            </a:r>
            <a:r>
              <a:rPr lang="en-US" dirty="0"/>
              <a:t>Ubuntu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2F1B69E-3976-3113-1658-84A9C938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D7612C-4410-A5EF-AEF2-1A6CE38D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23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F5FBE7-EAF5-262C-3010-3E451772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308"/>
          <a:stretch>
            <a:fillRect/>
          </a:stretch>
        </p:blipFill>
        <p:spPr>
          <a:xfrm>
            <a:off x="1680175" y="3037577"/>
            <a:ext cx="8821135" cy="23105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0AFDF2-34A4-1D62-AEB7-D47BCC73D4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36"/>
          <a:stretch>
            <a:fillRect/>
          </a:stretch>
        </p:blipFill>
        <p:spPr>
          <a:xfrm>
            <a:off x="1680175" y="5348158"/>
            <a:ext cx="8821135" cy="6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34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630A5-A685-A21E-6FAE-6C7DEED4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190FB-D323-3269-CA91-A736480F6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1348160"/>
          </a:xfrm>
        </p:spPr>
        <p:txBody>
          <a:bodyPr/>
          <a:lstStyle/>
          <a:p>
            <a:r>
              <a:rPr lang="ru-RU" dirty="0"/>
              <a:t>На следующем этапе необходимо выполнить разметку диска. Здесь нужно выбрать вариант «</a:t>
            </a:r>
            <a:r>
              <a:rPr lang="en-US" i="1" dirty="0"/>
              <a:t>Custom Storage Layout</a:t>
            </a:r>
            <a:r>
              <a:rPr lang="ru-RU" dirty="0"/>
              <a:t>», чтобы выполнить ее вручную.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5EC9A3-C711-5B82-0D0D-3A142779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189408-53CB-3A0B-38E6-263CB54B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24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7E4BC8-9E0E-C53C-0B3D-7D2F9005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48" y="2967257"/>
            <a:ext cx="8800590" cy="335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3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C9437-10A9-193B-BDC2-C4B28F6E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D9380-F52F-3A71-99B2-2C2EE244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6239756" cy="4617216"/>
          </a:xfrm>
        </p:spPr>
        <p:txBody>
          <a:bodyPr/>
          <a:lstStyle/>
          <a:p>
            <a:r>
              <a:rPr lang="ru-RU" dirty="0"/>
              <a:t>Для продолжения установки необходимо выполнить разметку диска. Для этого необходимо: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Выбрать загрузочный диск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Создать точку монтирования к корневом разделе </a:t>
            </a:r>
            <a:r>
              <a:rPr lang="en-US" dirty="0"/>
              <a:t>/</a:t>
            </a:r>
            <a:endParaRPr lang="ru-RU" dirty="0"/>
          </a:p>
          <a:p>
            <a:r>
              <a:rPr lang="ru-RU" dirty="0"/>
              <a:t>Чтобы выбрать загрузочный диск, нужно в разделе </a:t>
            </a:r>
            <a:r>
              <a:rPr lang="en-US" b="1" dirty="0"/>
              <a:t>Available Devices</a:t>
            </a:r>
            <a:r>
              <a:rPr lang="ru-RU" dirty="0"/>
              <a:t> выбрать диск, нажать </a:t>
            </a:r>
            <a:r>
              <a:rPr lang="en-US" dirty="0"/>
              <a:t>Enter </a:t>
            </a:r>
            <a:r>
              <a:rPr lang="ru-RU" dirty="0"/>
              <a:t>и выбрать пункт «</a:t>
            </a:r>
            <a:r>
              <a:rPr lang="en-US" i="1" dirty="0"/>
              <a:t>Use As Boot Device</a:t>
            </a:r>
            <a:r>
              <a:rPr lang="ru-RU" dirty="0"/>
              <a:t>».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10FEE9-848F-98AE-305B-3AFE5321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66F8D0-7147-F965-CC78-E2482B87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25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F3A680-7B2B-7D57-11DD-E92DA591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156" y="1552356"/>
            <a:ext cx="4711044" cy="328499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FA5F75-0229-5FBD-205F-6F13D449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851" y="5024132"/>
            <a:ext cx="4953653" cy="110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49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B0C8-8D08-B64F-7A6E-760045DD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BBCD7-C8F4-2140-FE1B-6EC8D704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F2112D-18A8-BA3A-3D35-28A173782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6239756" cy="4617216"/>
          </a:xfrm>
        </p:spPr>
        <p:txBody>
          <a:bodyPr>
            <a:normAutofit/>
          </a:bodyPr>
          <a:lstStyle/>
          <a:p>
            <a:r>
              <a:rPr lang="ru-RU" dirty="0"/>
              <a:t>Ниже, после названия диска, идет пункт </a:t>
            </a:r>
            <a:r>
              <a:rPr lang="en-US" b="1" dirty="0"/>
              <a:t>free space</a:t>
            </a:r>
            <a:r>
              <a:rPr lang="ru-RU" dirty="0"/>
              <a:t> — свободное место, которое можно использовать для создания логического раздела.</a:t>
            </a:r>
          </a:p>
          <a:p>
            <a:r>
              <a:rPr lang="ru-RU" dirty="0"/>
              <a:t>Для создания логического раздела в корневом каталоге нажмите </a:t>
            </a:r>
            <a:r>
              <a:rPr lang="en-US" dirty="0"/>
              <a:t>Enter</a:t>
            </a:r>
            <a:r>
              <a:rPr lang="ru-RU" dirty="0"/>
              <a:t>, выберете «</a:t>
            </a:r>
            <a:r>
              <a:rPr lang="en-US" i="1" dirty="0"/>
              <a:t>Add GPT Partition</a:t>
            </a:r>
            <a:r>
              <a:rPr lang="ru-RU" i="1" dirty="0"/>
              <a:t>»</a:t>
            </a:r>
            <a:r>
              <a:rPr lang="ru-RU" dirty="0"/>
              <a:t>.</a:t>
            </a:r>
          </a:p>
          <a:p>
            <a:r>
              <a:rPr lang="ru-RU" dirty="0"/>
              <a:t>В открывшемся окне установите размер, равный максимальному. В поле Формат оставьте </a:t>
            </a:r>
            <a:r>
              <a:rPr lang="en-US" i="1" dirty="0"/>
              <a:t>ext4</a:t>
            </a:r>
            <a:r>
              <a:rPr lang="en-US" dirty="0"/>
              <a:t>, </a:t>
            </a:r>
            <a:r>
              <a:rPr lang="ru-RU" dirty="0"/>
              <a:t>в поле </a:t>
            </a:r>
            <a:r>
              <a:rPr lang="en-US" dirty="0"/>
              <a:t>Mount </a:t>
            </a:r>
            <a:r>
              <a:rPr lang="ru-RU" dirty="0"/>
              <a:t>— </a:t>
            </a:r>
            <a:r>
              <a:rPr lang="en-US" i="1" dirty="0"/>
              <a:t>/</a:t>
            </a:r>
            <a:r>
              <a:rPr lang="ru-RU" dirty="0"/>
              <a:t>.</a:t>
            </a:r>
            <a:endParaRPr lang="ru-RU" i="1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383BC4-7763-79F2-4F57-3B1B0086C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66D9F9-E834-DE8F-629F-9DD46625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26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706FCD-1107-9AF8-A76E-FDE9D0D64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683" y="2386865"/>
            <a:ext cx="5268112" cy="59997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8405A7C-D225-7421-9FD9-B4025BC7D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351" y="3320190"/>
            <a:ext cx="4926775" cy="202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59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2830A-F350-F248-37E4-122E798C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E484F-9ECD-9CE9-D12E-10C60E4A9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5"/>
            <a:ext cx="11761077" cy="1602530"/>
          </a:xfrm>
        </p:spPr>
        <p:txBody>
          <a:bodyPr>
            <a:normAutofit lnSpcReduction="10000"/>
          </a:bodyPr>
          <a:lstStyle/>
          <a:p>
            <a:pPr>
              <a:lnSpc>
                <a:spcPct val="87000"/>
              </a:lnSpc>
            </a:pPr>
            <a:r>
              <a:rPr lang="ru-RU" dirty="0"/>
              <a:t>На последнем этапе необходимо создать учетную запись пользователя.</a:t>
            </a:r>
            <a:endParaRPr lang="en-US" dirty="0"/>
          </a:p>
          <a:p>
            <a:pPr>
              <a:lnSpc>
                <a:spcPct val="87000"/>
              </a:lnSpc>
            </a:pPr>
            <a:r>
              <a:rPr lang="ru-RU" dirty="0"/>
              <a:t>Задайте отображаемое имя пользователя, имя сервера, а также логин и пароль учетной записи. Слишком сложные и длинные данные желательно не придумывать.</a:t>
            </a:r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33A8AD-F814-169F-6FF5-EA07A90E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61BADF-F537-3B77-E228-E8A985AF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27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32CEAF-8578-E65B-5B6D-7F9AF7F6F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341" y="3259984"/>
            <a:ext cx="9878804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47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E8F6B0-E3E2-5C02-70CD-CA23DF78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5" y="2762865"/>
            <a:ext cx="8667643" cy="18645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6DC89-06F3-CBFE-B895-7722C214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2CCCE4-23FE-31E7-528A-D7EDBE664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1023696"/>
          </a:xfrm>
        </p:spPr>
        <p:txBody>
          <a:bodyPr/>
          <a:lstStyle/>
          <a:p>
            <a:r>
              <a:rPr lang="ru-RU" dirty="0"/>
              <a:t>Следующие дополнительные шаги можно пропустить, пока не будет отображено окно процесса установки системы.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F7F3C3-85E7-59F4-CCB0-1AC79B61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39678F-CB46-A57E-714A-87C331E3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28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AD6204-A007-3BFF-ED0B-71496967B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006892"/>
            <a:ext cx="7736601" cy="205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16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BC473-90D6-FFD9-AB49-AC6A3D24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5E05CC-C0F5-FCEE-A7A9-E8853376C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926060"/>
          </a:xfrm>
        </p:spPr>
        <p:txBody>
          <a:bodyPr>
            <a:normAutofit/>
          </a:bodyPr>
          <a:lstStyle/>
          <a:p>
            <a:r>
              <a:rPr lang="ru-RU" sz="3200" i="1" dirty="0"/>
              <a:t>Теперь нужно ждать…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1F9077C-8845-BEF8-52A9-C75AF412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DAD0ED-0849-B745-DC9B-92966952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29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624B04-F6DF-11A7-8ADE-99F03F24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846" y="2689964"/>
            <a:ext cx="8707793" cy="351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68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4D999-8127-5E91-D36B-6CB86B6A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Ubuntu Server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28FDAB-1E0B-C8F3-8A27-A6B40E31A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5"/>
            <a:ext cx="11761077" cy="1004031"/>
          </a:xfrm>
        </p:spPr>
        <p:txBody>
          <a:bodyPr>
            <a:normAutofit/>
          </a:bodyPr>
          <a:lstStyle/>
          <a:p>
            <a:r>
              <a:rPr lang="ru-RU" dirty="0"/>
              <a:t>Когда в нижней части появится опция </a:t>
            </a:r>
            <a:r>
              <a:rPr lang="ru-RU" i="1" dirty="0"/>
              <a:t>Перезагрузить сейчас</a:t>
            </a:r>
            <a:r>
              <a:rPr lang="ru-RU" dirty="0"/>
              <a:t>, это означает, что установка завершена.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DC81CA-8015-E803-871C-0682CDE1D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BCFAC5-5FDE-35BC-B8BE-FBFB1734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30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252F51-BB43-811F-FC5A-1D747CD75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36" y="2644877"/>
            <a:ext cx="8590128" cy="371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78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08D67-2C70-1A07-0A33-771DC715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установленной 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B3FC29-A9E7-4555-B5C9-8FC3B3E1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6" y="1552356"/>
            <a:ext cx="6111936" cy="4617216"/>
          </a:xfrm>
        </p:spPr>
        <p:txBody>
          <a:bodyPr/>
          <a:lstStyle/>
          <a:p>
            <a:r>
              <a:rPr lang="ru-RU" dirty="0"/>
              <a:t>После установки и перезагрузки виртуальной машины вы увидите экран входа в систему.</a:t>
            </a:r>
          </a:p>
          <a:p>
            <a:r>
              <a:rPr lang="ru-RU" dirty="0"/>
              <a:t>Можно войти в систему под своим логином и паролем, который вы задавали ранее.</a:t>
            </a:r>
          </a:p>
          <a:p>
            <a:r>
              <a:rPr lang="ru-RU" dirty="0"/>
              <a:t>Ура, система работает!</a:t>
            </a:r>
          </a:p>
          <a:p>
            <a:r>
              <a:rPr lang="ru-RU" dirty="0"/>
              <a:t>Для выключения виртуальной машины введите команду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shutdown now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F47DB3-3EC8-6064-B6B7-93F77D21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85EB05-75A4-80B8-5918-473F4DCE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31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BEE1AA-5EEC-9566-C0F4-B287A7C93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075" y="1552356"/>
            <a:ext cx="5010014" cy="461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76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2AF12815-B2EB-390C-C6EB-F347C2B94E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Вопросы?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DCD09B-7EA4-04DD-555A-84EBD30C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№1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AF7363-D5C1-D5E1-4CB9-521667CD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633233"/>
      </p:ext>
    </p:extLst>
  </p:cSld>
  <p:clrMapOvr>
    <a:masterClrMapping/>
  </p:clrMapOvr>
</p:sld>
</file>

<file path=ppt/theme/theme1.xml><?xml version="1.0" encoding="utf-8"?>
<a:theme xmlns:a="http://schemas.openxmlformats.org/drawingml/2006/main" name="Колледж IT практик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олледж IT практика" id="{3F78F294-25D0-47DF-BBBD-FA6E606FB2A7}" vid="{77AE4007-EBB6-4BFC-A3FE-FE841F3755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Колледж IT практика</Template>
  <TotalTime>1037</TotalTime>
  <Words>1475</Words>
  <Application>Microsoft Office PowerPoint</Application>
  <PresentationFormat>Широкоэкранный</PresentationFormat>
  <Paragraphs>188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Century Gothic</vt:lpstr>
      <vt:lpstr>Consolas</vt:lpstr>
      <vt:lpstr>Times New Roman</vt:lpstr>
      <vt:lpstr>Unbounded</vt:lpstr>
      <vt:lpstr>Колледж IT практика</vt:lpstr>
      <vt:lpstr>Введение. Установка операционной системы в Oracle VirtualBox</vt:lpstr>
      <vt:lpstr>Небольшое вступление</vt:lpstr>
      <vt:lpstr>Что мы будем делать?</vt:lpstr>
      <vt:lpstr>Oracle VirtualBox</vt:lpstr>
      <vt:lpstr>Презентация PowerPoint</vt:lpstr>
      <vt:lpstr>Создание виртуальных машин в Virtual Box</vt:lpstr>
      <vt:lpstr>Создание виртуальной машины</vt:lpstr>
      <vt:lpstr>Имя и тип ОС</vt:lpstr>
      <vt:lpstr>Имя и тип ОС</vt:lpstr>
      <vt:lpstr>Имя и тип ОС</vt:lpstr>
      <vt:lpstr>Автоматическая установка</vt:lpstr>
      <vt:lpstr>Оборудование</vt:lpstr>
      <vt:lpstr>Оборудование</vt:lpstr>
      <vt:lpstr>Жесткий диск</vt:lpstr>
      <vt:lpstr>Жесткий диск</vt:lpstr>
      <vt:lpstr>Запуск виртуальной машины</vt:lpstr>
      <vt:lpstr>Процесс установки</vt:lpstr>
      <vt:lpstr>Важное замечание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Установка Ubuntu Server</vt:lpstr>
      <vt:lpstr>Запуск установленной ОС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Командный интерпретатор Bash (Unix)</dc:title>
  <dc:creator>Эмиль Штейнберг</dc:creator>
  <cp:lastModifiedBy>Эмиль Штейнберг</cp:lastModifiedBy>
  <cp:revision>68</cp:revision>
  <dcterms:created xsi:type="dcterms:W3CDTF">2024-09-08T09:40:38Z</dcterms:created>
  <dcterms:modified xsi:type="dcterms:W3CDTF">2026-09-02T19:28:12Z</dcterms:modified>
</cp:coreProperties>
</file>